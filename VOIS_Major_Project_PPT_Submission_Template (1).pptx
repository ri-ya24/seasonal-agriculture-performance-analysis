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690896" cy="861497"/>
          </a:xfrm>
        </p:spPr>
        <p:txBody>
          <a:bodyPr vert="horz" lIns="91440" tIns="45720" rIns="91440" bIns="45720" rtlCol="0" anchor="t">
            <a:normAutofit/>
          </a:bodyPr>
          <a:lstStyle/>
          <a:p>
            <a:pPr algn="ctr"/>
            <a:r>
              <a:rPr lang="en-US" b="0" dirty="0">
                <a:solidFill>
                  <a:srgbClr val="002060"/>
                </a:solidFill>
                <a:latin typeface="Aptos Display" panose="020B0004020202020204" pitchFamily="34" charset="0"/>
              </a:rPr>
              <a:t>RIYA SINGH </a:t>
            </a:r>
            <a:endParaRPr lang="en-IN" b="0" dirty="0">
              <a:solidFill>
                <a:srgbClr val="002060"/>
              </a:solidFill>
              <a:latin typeface="Aptos Display" panose="020B0004020202020204" pitchFamily="34" charset="0"/>
            </a:endParaRPr>
          </a:p>
          <a:p>
            <a:pPr algn="ctr"/>
            <a:r>
              <a:rPr lang="en-US" b="0" dirty="0">
                <a:solidFill>
                  <a:srgbClr val="002060"/>
                </a:solidFill>
                <a:latin typeface="Aptos Display" panose="020B0004020202020204" pitchFamily="34" charset="0"/>
              </a:rPr>
              <a:t>[UNIVERSITY OF LUCKNOW  ]</a:t>
            </a:r>
            <a:endParaRPr lang="en-IN" b="0" dirty="0">
              <a:solidFill>
                <a:srgbClr val="002060"/>
              </a:solidFill>
              <a:latin typeface="Aptos Display" panose="020B00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1707501"/>
            <a:ext cx="10966240" cy="1880697"/>
          </a:xfrm>
        </p:spPr>
        <p:txBody>
          <a:bodyPr>
            <a:normAutofit/>
          </a:bodyPr>
          <a:lstStyle/>
          <a:p>
            <a:pPr algn="ctr"/>
            <a:r>
              <a:rPr lang="en-GB" sz="3200" i="1" dirty="0">
                <a:latin typeface="Aptos Display" panose="020B0004020202020204" pitchFamily="34" charset="0"/>
              </a:rPr>
              <a:t>Project Title -</a:t>
            </a:r>
            <a:r>
              <a:rPr lang="en-IN" sz="3200" i="1" u="sng" dirty="0">
                <a:latin typeface="Aptos Display" panose="020B0004020202020204" pitchFamily="34" charset="0"/>
              </a:rPr>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a:t>
            </a:r>
            <a:r>
              <a:rPr lang="en-US" dirty="0">
                <a:latin typeface="Aptos Display" panose="020B0004020202020204" pitchFamily="34" charset="0"/>
              </a:rPr>
              <a:t>STU6a4fa2b8edff21783603896</a:t>
            </a:r>
            <a:r>
              <a:rPr lang="en-US" b="1" dirty="0"/>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80677" y="2024846"/>
            <a:ext cx="6431280" cy="3607987"/>
          </a:xfrm>
        </p:spPr>
        <p:txBody>
          <a:bodyPr vert="horz" lIns="91440" tIns="45720" rIns="91440" bIns="45720" rtlCol="0" anchor="t">
            <a:normAutofit fontScale="77500" lnSpcReduction="20000"/>
          </a:bodyPr>
          <a:lstStyle/>
          <a:p>
            <a:pPr>
              <a:lnSpc>
                <a:spcPct val="100000"/>
              </a:lnSpc>
            </a:pPr>
            <a:r>
              <a:rPr lang="en-IN" sz="2800" dirty="0">
                <a:latin typeface="Aptos Display" panose="020B0004020202020204" pitchFamily="34" charset="0"/>
              </a:rPr>
              <a:t>(</a:t>
            </a:r>
            <a:r>
              <a:rPr lang="en-US" sz="2800" dirty="0">
                <a:latin typeface="Aptos Display" panose="020B000402020202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latin typeface="Aptos Display" panose="020B00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sz="2200" dirty="0"/>
            </a:br>
            <a:r>
              <a:rPr lang="en-IN" sz="2200" b="0" dirty="0">
                <a:latin typeface="Aptos Display" panose="020B0004020202020204" pitchFamily="34" charset="0"/>
              </a:rPr>
              <a:t>Seasonal Agriculture Performance Analysis is a data analytics project that examines agricultural performance across Kharif, Rabi, and Zaid seasons. The project analyses crop yield, production, resource utilization, environmental conditions, water efficiency, and profitability to identify seasonal patterns, regional variations, significant relationships, and high-risk agricultural conditions. Using Python, statistical analysis, and data visualization, the project generates evidence-based insights and recommendations for improved agricultural planning and resource management.</a:t>
            </a:r>
            <a:br>
              <a:rPr lang="en-IN"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951722" y="2220686"/>
            <a:ext cx="7674118" cy="3760697"/>
          </a:xfrm>
        </p:spPr>
        <p:txBody>
          <a:bodyPr>
            <a:normAutofit/>
          </a:bodyPr>
          <a:lstStyle/>
          <a:p>
            <a:pPr lvl="0"/>
            <a:r>
              <a:rPr lang="en-IN" sz="2400" dirty="0">
                <a:latin typeface="Aptos Display" panose="020B0004020202020204" pitchFamily="34" charset="0"/>
              </a:rPr>
              <a:t>Farmers </a:t>
            </a:r>
          </a:p>
          <a:p>
            <a:pPr lvl="0"/>
            <a:r>
              <a:rPr lang="en-IN" sz="2400" dirty="0">
                <a:latin typeface="Aptos Display" panose="020B0004020202020204" pitchFamily="34" charset="0"/>
              </a:rPr>
              <a:t>Agricultural planners / decision-makers </a:t>
            </a:r>
          </a:p>
          <a:p>
            <a:pPr lvl="0"/>
            <a:r>
              <a:rPr lang="en-IN" sz="2400" dirty="0">
                <a:latin typeface="Aptos Display" panose="020B0004020202020204" pitchFamily="34" charset="0"/>
              </a:rPr>
              <a:t>Agricultural researchers </a:t>
            </a:r>
          </a:p>
          <a:p>
            <a:pPr lvl="0"/>
            <a:r>
              <a:rPr lang="en-IN" sz="2400" dirty="0">
                <a:latin typeface="Aptos Display" panose="020B0004020202020204" pitchFamily="34" charset="0"/>
              </a:rPr>
              <a:t>Agricultural consultants </a:t>
            </a:r>
          </a:p>
          <a:p>
            <a:pPr lvl="0"/>
            <a:r>
              <a:rPr lang="en-IN" sz="2400" dirty="0">
                <a:latin typeface="Aptos Display" panose="020B0004020202020204" pitchFamily="34" charset="0"/>
              </a:rPr>
              <a:t>Government / agricultural departments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 Data analysis and processing </a:t>
            </a:r>
          </a:p>
          <a:p>
            <a:pPr lvl="0"/>
            <a:r>
              <a:rPr lang="en-IN" b="1" dirty="0"/>
              <a:t>Pandas</a:t>
            </a:r>
            <a:r>
              <a:rPr lang="en-IN" dirty="0"/>
              <a:t> – Data cleaning, manipulation, and aggregation </a:t>
            </a:r>
          </a:p>
          <a:p>
            <a:pPr lvl="0"/>
            <a:r>
              <a:rPr lang="en-IN" b="1" dirty="0"/>
              <a:t>NumPy</a:t>
            </a:r>
            <a:r>
              <a:rPr lang="en-IN" dirty="0"/>
              <a:t> – Numerical computations </a:t>
            </a:r>
          </a:p>
          <a:p>
            <a:pPr lvl="0"/>
            <a:r>
              <a:rPr lang="en-IN" b="1" dirty="0"/>
              <a:t>Matplotlib</a:t>
            </a:r>
            <a:r>
              <a:rPr lang="en-IN" dirty="0"/>
              <a:t> – Data visualization </a:t>
            </a:r>
          </a:p>
          <a:p>
            <a:pPr lvl="0"/>
            <a:r>
              <a:rPr lang="en-IN" b="1" dirty="0"/>
              <a:t>Seaborn</a:t>
            </a:r>
            <a:r>
              <a:rPr lang="en-IN" dirty="0"/>
              <a:t> – Statistical and analytical visualizations </a:t>
            </a:r>
          </a:p>
          <a:p>
            <a:pPr lvl="0"/>
            <a:r>
              <a:rPr lang="en-IN" b="1" dirty="0"/>
              <a:t>SciPy</a:t>
            </a:r>
            <a:r>
              <a:rPr lang="en-IN" dirty="0"/>
              <a:t> – Statistical analysis </a:t>
            </a:r>
          </a:p>
          <a:p>
            <a:r>
              <a:rPr lang="en-IN" b="1" dirty="0"/>
              <a:t>  Google </a:t>
            </a:r>
            <a:r>
              <a:rPr lang="en-IN" b="1" dirty="0" err="1"/>
              <a:t>Colab</a:t>
            </a:r>
            <a:r>
              <a:rPr lang="en-IN" dirty="0"/>
              <a:t> – Project development and analysis </a:t>
            </a:r>
          </a:p>
          <a:p>
            <a:pPr lvl="0"/>
            <a:r>
              <a:rPr lang="en-IN" b="1" dirty="0"/>
              <a:t>GitHub</a:t>
            </a:r>
            <a:r>
              <a:rPr lang="en-IN" dirty="0"/>
              <a:t> – Project version control and repository management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2A94D10-0B4F-E86F-EAE2-0D628786C40A}"/>
              </a:ext>
            </a:extLst>
          </p:cNvPr>
          <p:cNvPicPr>
            <a:picLocks noChangeAspect="1"/>
          </p:cNvPicPr>
          <p:nvPr/>
        </p:nvPicPr>
        <p:blipFill>
          <a:blip r:embed="rId3"/>
          <a:stretch>
            <a:fillRect/>
          </a:stretch>
        </p:blipFill>
        <p:spPr>
          <a:xfrm>
            <a:off x="256576" y="74645"/>
            <a:ext cx="11935424" cy="685799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F7B7C27-8261-644F-B8DD-A4F184685FE8}"/>
              </a:ext>
            </a:extLst>
          </p:cNvPr>
          <p:cNvPicPr>
            <a:picLocks noChangeAspect="1"/>
          </p:cNvPicPr>
          <p:nvPr/>
        </p:nvPicPr>
        <p:blipFill>
          <a:blip r:embed="rId3"/>
          <a:stretch>
            <a:fillRect/>
          </a:stretch>
        </p:blipFill>
        <p:spPr>
          <a:xfrm>
            <a:off x="76561" y="0"/>
            <a:ext cx="12038877" cy="6858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C69C153-69DC-275A-B2D3-10359A0BC29C}"/>
              </a:ext>
            </a:extLst>
          </p:cNvPr>
          <p:cNvPicPr>
            <a:picLocks noChangeAspect="1"/>
          </p:cNvPicPr>
          <p:nvPr/>
        </p:nvPicPr>
        <p:blipFill>
          <a:blip r:embed="rId3"/>
          <a:stretch>
            <a:fillRect/>
          </a:stretch>
        </p:blipFill>
        <p:spPr>
          <a:xfrm>
            <a:off x="0" y="43400"/>
            <a:ext cx="12192000" cy="67712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AB10DC4-7B90-5617-505E-D58F2270E5CC}"/>
              </a:ext>
            </a:extLst>
          </p:cNvPr>
          <p:cNvPicPr>
            <a:picLocks noChangeAspect="1"/>
          </p:cNvPicPr>
          <p:nvPr/>
        </p:nvPicPr>
        <p:blipFill>
          <a:blip r:embed="rId3"/>
          <a:stretch>
            <a:fillRect/>
          </a:stretch>
        </p:blipFill>
        <p:spPr>
          <a:xfrm>
            <a:off x="0" y="1"/>
            <a:ext cx="12192000" cy="6858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066B683-BBB9-3489-87BB-4718CCAB9057}"/>
              </a:ext>
            </a:extLst>
          </p:cNvPr>
          <p:cNvPicPr>
            <a:picLocks noChangeAspect="1"/>
          </p:cNvPicPr>
          <p:nvPr/>
        </p:nvPicPr>
        <p:blipFill>
          <a:blip r:embed="rId3"/>
          <a:stretch>
            <a:fillRect/>
          </a:stretch>
        </p:blipFill>
        <p:spPr>
          <a:xfrm>
            <a:off x="0" y="0"/>
            <a:ext cx="12316408" cy="677402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fontScale="90000"/>
          </a:bodyPr>
          <a:lstStyle/>
          <a:p>
            <a:r>
              <a:rPr lang="en-IN" sz="4000" dirty="0"/>
              <a:t>Future scope</a:t>
            </a:r>
            <a:br>
              <a:rPr lang="en-IN" sz="4000" dirty="0"/>
            </a:b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6102705A-5E3A-B285-7CFF-6049249865FA}"/>
              </a:ext>
            </a:extLst>
          </p:cNvPr>
          <p:cNvSpPr txBox="1"/>
          <p:nvPr/>
        </p:nvSpPr>
        <p:spPr>
          <a:xfrm>
            <a:off x="410547" y="1171508"/>
            <a:ext cx="8742783" cy="3477875"/>
          </a:xfrm>
          <a:prstGeom prst="rect">
            <a:avLst/>
          </a:prstGeom>
          <a:noFill/>
        </p:spPr>
        <p:txBody>
          <a:bodyPr wrap="square">
            <a:spAutoFit/>
          </a:bodyPr>
          <a:lstStyle/>
          <a:p>
            <a:pPr marL="342900" lvl="0" indent="-342900">
              <a:buFont typeface="Arial" panose="020B0604020202020204" pitchFamily="34" charset="0"/>
              <a:buChar char="•"/>
            </a:pPr>
            <a:r>
              <a:rPr lang="en-IN" sz="2000" b="1" dirty="0">
                <a:latin typeface="Aptos Display" panose="020B0004020202020204" pitchFamily="34" charset="0"/>
              </a:rPr>
              <a:t>Real-time agricultural data integration</a:t>
            </a:r>
            <a:r>
              <a:rPr lang="en-IN" sz="2000" dirty="0">
                <a:latin typeface="Aptos Display" panose="020B0004020202020204" pitchFamily="34" charset="0"/>
              </a:rPr>
              <a:t> for continuous monitoring of crops and environmental conditions. </a:t>
            </a:r>
          </a:p>
          <a:p>
            <a:pPr marL="342900" lvl="0" indent="-342900">
              <a:buFont typeface="Arial" panose="020B0604020202020204" pitchFamily="34" charset="0"/>
              <a:buChar char="•"/>
            </a:pPr>
            <a:r>
              <a:rPr lang="en-IN" sz="2000" b="1" dirty="0">
                <a:latin typeface="Aptos Display" panose="020B0004020202020204" pitchFamily="34" charset="0"/>
              </a:rPr>
              <a:t>Predictive analytics / Machine Learning</a:t>
            </a:r>
            <a:r>
              <a:rPr lang="en-IN" sz="2000" dirty="0">
                <a:latin typeface="Aptos Display" panose="020B0004020202020204" pitchFamily="34" charset="0"/>
              </a:rPr>
              <a:t> to forecast crop yield, profitability, and seasonal performance. </a:t>
            </a:r>
          </a:p>
          <a:p>
            <a:pPr marL="342900" lvl="0" indent="-342900">
              <a:buFont typeface="Arial" panose="020B0604020202020204" pitchFamily="34" charset="0"/>
              <a:buChar char="•"/>
            </a:pPr>
            <a:r>
              <a:rPr lang="en-IN" sz="2000" b="1" dirty="0">
                <a:latin typeface="Aptos Display" panose="020B0004020202020204" pitchFamily="34" charset="0"/>
              </a:rPr>
              <a:t>Weather forecasting integration</a:t>
            </a:r>
            <a:r>
              <a:rPr lang="en-IN" sz="2000" dirty="0">
                <a:latin typeface="Aptos Display" panose="020B0004020202020204" pitchFamily="34" charset="0"/>
              </a:rPr>
              <a:t> to support better crop and irrigation planning. </a:t>
            </a:r>
          </a:p>
          <a:p>
            <a:pPr marL="342900" lvl="0" indent="-342900">
              <a:buFont typeface="Arial" panose="020B0604020202020204" pitchFamily="34" charset="0"/>
              <a:buChar char="•"/>
            </a:pPr>
            <a:r>
              <a:rPr lang="en-IN" sz="2000" b="1" dirty="0">
                <a:latin typeface="Aptos Display" panose="020B0004020202020204" pitchFamily="34" charset="0"/>
              </a:rPr>
              <a:t>Crop recommendation system</a:t>
            </a:r>
            <a:r>
              <a:rPr lang="en-IN" sz="2000" dirty="0">
                <a:latin typeface="Aptos Display" panose="020B0004020202020204" pitchFamily="34" charset="0"/>
              </a:rPr>
              <a:t> based on soil, weather, season, and market conditions. </a:t>
            </a:r>
          </a:p>
          <a:p>
            <a:pPr marL="342900" lvl="0" indent="-342900">
              <a:buFont typeface="Arial" panose="020B0604020202020204" pitchFamily="34" charset="0"/>
              <a:buChar char="•"/>
            </a:pPr>
            <a:r>
              <a:rPr lang="en-IN" sz="2000" b="1" dirty="0">
                <a:latin typeface="Aptos Display" panose="020B0004020202020204" pitchFamily="34" charset="0"/>
              </a:rPr>
              <a:t>Smart irrigation recommendations</a:t>
            </a:r>
            <a:r>
              <a:rPr lang="en-IN" sz="2000" dirty="0">
                <a:latin typeface="Aptos Display" panose="020B0004020202020204" pitchFamily="34" charset="0"/>
              </a:rPr>
              <a:t> to improve water-use efficiency. </a:t>
            </a:r>
          </a:p>
          <a:p>
            <a:pPr marL="342900" lvl="0" indent="-342900">
              <a:buFont typeface="Arial" panose="020B0604020202020204" pitchFamily="34" charset="0"/>
              <a:buChar char="•"/>
            </a:pPr>
            <a:r>
              <a:rPr lang="en-IN" sz="2000" b="1" dirty="0">
                <a:latin typeface="Aptos Display" panose="020B0004020202020204" pitchFamily="34" charset="0"/>
              </a:rPr>
              <a:t>Interactive dashboard</a:t>
            </a:r>
            <a:r>
              <a:rPr lang="en-IN" sz="2000" dirty="0">
                <a:latin typeface="Aptos Display" panose="020B0004020202020204" pitchFamily="34" charset="0"/>
              </a:rPr>
              <a:t> for farmers, agricultural planners, and decision-makers. </a:t>
            </a:r>
          </a:p>
          <a:p>
            <a:pPr marL="342900" lvl="0" indent="-342900">
              <a:buFont typeface="Arial" panose="020B0604020202020204" pitchFamily="34" charset="0"/>
              <a:buChar char="•"/>
            </a:pPr>
            <a:r>
              <a:rPr lang="en-IN" sz="2000" b="1" dirty="0">
                <a:latin typeface="Aptos Display" panose="020B0004020202020204" pitchFamily="34" charset="0"/>
              </a:rPr>
              <a:t>Larger and real-world datasets</a:t>
            </a:r>
            <a:r>
              <a:rPr lang="en-IN" sz="2000" dirty="0">
                <a:latin typeface="Aptos Display" panose="020B0004020202020204" pitchFamily="34" charset="0"/>
              </a:rPr>
              <a:t> can be incorporated to improve the accuracy and generalizability of the analysis.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707886"/>
          </a:xfrm>
          <a:prstGeom prst="rect">
            <a:avLst/>
          </a:prstGeom>
          <a:noFill/>
        </p:spPr>
        <p:txBody>
          <a:bodyPr wrap="square">
            <a:spAutoFit/>
          </a:bodyPr>
          <a:lstStyle/>
          <a:p>
            <a:r>
              <a:rPr lang="en-US" sz="2000" dirty="0">
                <a:latin typeface="Aptos Display" panose="020B0004020202020204" pitchFamily="34" charset="0"/>
              </a:rPr>
              <a:t>https://github.com/ri-ya24/seasonal-agriculture-performance-analysis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83EBF4F-ED18-FBC5-F7A6-45E9A713B93F}"/>
              </a:ext>
            </a:extLst>
          </p:cNvPr>
          <p:cNvPicPr>
            <a:picLocks noChangeAspect="1"/>
          </p:cNvPicPr>
          <p:nvPr/>
        </p:nvPicPr>
        <p:blipFill>
          <a:blip r:embed="rId3"/>
          <a:stretch>
            <a:fillRect/>
          </a:stretch>
        </p:blipFill>
        <p:spPr>
          <a:xfrm>
            <a:off x="320982" y="1275370"/>
            <a:ext cx="11195061" cy="558262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4456145"/>
          </a:xfrm>
          <a:prstGeom prst="rect">
            <a:avLst/>
          </a:prstGeom>
        </p:spPr>
        <p:txBody>
          <a:bodyPr anchor="ctr">
            <a:normAutofit/>
          </a:bodyPr>
          <a:lstStyle/>
          <a:p>
            <a:pPr algn="ctr"/>
            <a:r>
              <a:rPr lang="en-US" sz="4800" b="1" dirty="0">
                <a:solidFill>
                  <a:srgbClr val="00B050"/>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93674" y="2640563"/>
            <a:ext cx="2139696" cy="1721124"/>
          </a:xfrm>
        </p:spPr>
        <p:txBody>
          <a:bodyPr>
            <a:normAutofit/>
          </a:bodyPr>
          <a:lstStyle/>
          <a:p>
            <a:endParaRPr lang="en-IN" sz="2600" dirty="0">
              <a:latin typeface="Aptos Display" panose="020B0004020202020204" pitchFamily="34" charset="0"/>
            </a:endParaRPr>
          </a:p>
          <a:p>
            <a:endParaRPr lang="en-IN" sz="2600" dirty="0">
              <a:latin typeface="Aptos Display" panose="020B0004020202020204" pitchFamily="34" charset="0"/>
            </a:endParaRPr>
          </a:p>
          <a:p>
            <a:endParaRPr lang="en-IN" dirty="0"/>
          </a:p>
        </p:txBody>
      </p:sp>
      <p:sp>
        <p:nvSpPr>
          <p:cNvPr id="4" name="TextBox 3">
            <a:extLst>
              <a:ext uri="{FF2B5EF4-FFF2-40B4-BE49-F238E27FC236}">
                <a16:creationId xmlns:a16="http://schemas.microsoft.com/office/drawing/2014/main" id="{6D6FBC66-A953-BE22-3F78-1A7167DAC050}"/>
              </a:ext>
            </a:extLst>
          </p:cNvPr>
          <p:cNvSpPr txBox="1"/>
          <p:nvPr/>
        </p:nvSpPr>
        <p:spPr>
          <a:xfrm>
            <a:off x="7789163" y="5717857"/>
            <a:ext cx="6102220" cy="400110"/>
          </a:xfrm>
          <a:prstGeom prst="rect">
            <a:avLst/>
          </a:prstGeom>
          <a:noFill/>
        </p:spPr>
        <p:txBody>
          <a:bodyPr wrap="square">
            <a:spAutoFit/>
          </a:bodyPr>
          <a:lstStyle/>
          <a:p>
            <a:r>
              <a:rPr lang="en-IN" sz="2000" dirty="0">
                <a:solidFill>
                  <a:srgbClr val="00B050"/>
                </a:solidFill>
                <a:latin typeface="Aptos Display" panose="020B0004020202020204" pitchFamily="34" charset="0"/>
              </a:rPr>
              <a:t>Presented by: Riya Singh</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1386</TotalTime>
  <Words>435</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 Display</vt:lpstr>
      <vt:lpstr>Arial</vt:lpstr>
      <vt:lpstr>Calibri</vt:lpstr>
      <vt:lpstr>Trebuchet MS</vt:lpstr>
      <vt:lpstr>Wingdings</vt:lpstr>
      <vt:lpstr>Wingdings 3</vt:lpstr>
      <vt:lpstr>Facet</vt:lpstr>
      <vt:lpstr>Project Title -Seasonal Agriculture Performance Analysis </vt:lpstr>
      <vt:lpstr>PROBLEM  STATEMENT</vt:lpstr>
      <vt:lpstr>Project Description   Seasonal Agriculture Performance Analysis is a data analytics project that examines agricultural performance across Kharif, Rabi, and Zaid seasons. The project analyses crop yield, production, resource utilization, environmental conditions, water efficiency, and profitability to identify seasonal patterns, regional variations, significant relationships, and high-risk agricultural conditions. Using Python, statistical analysis, and data visualization, the project generates evidence-based insights and recommendations for improved agricultural planning and resource management.  </vt:lpstr>
      <vt:lpstr>WHO ARE THE END USERS?</vt:lpstr>
      <vt:lpstr>Technology Used</vt:lpstr>
      <vt:lpstr>RESULTS </vt:lpstr>
      <vt:lpstr>RESULTS </vt:lpstr>
      <vt:lpstr>RESULTS </vt:lpstr>
      <vt:lpstr>RESULTS </vt:lpstr>
      <vt:lpstr>RESULTS </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Riya Singh</cp:lastModifiedBy>
  <cp:revision>100</cp:revision>
  <dcterms:created xsi:type="dcterms:W3CDTF">2021-07-11T13:13:15Z</dcterms:created>
  <dcterms:modified xsi:type="dcterms:W3CDTF">2026-09-08T12:54:17Z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